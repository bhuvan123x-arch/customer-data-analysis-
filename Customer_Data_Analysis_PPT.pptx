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44F77-A7A8-4259-B2D1-0223CCB698AC}" v="96" dt="2026-06-06T10:16:56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vanesh222000@outlook.com" userId="ce876f4a2fea5c80" providerId="LiveId" clId="{087EB8BB-F6BE-4714-B2E9-FEAE84C1741C}"/>
    <pc:docChg chg="custSel modSld">
      <pc:chgData name="bhuvanesh222000@outlook.com" userId="ce876f4a2fea5c80" providerId="LiveId" clId="{087EB8BB-F6BE-4714-B2E9-FEAE84C1741C}" dt="2026-06-08T07:24:00.713" v="287" actId="14100"/>
      <pc:docMkLst>
        <pc:docMk/>
      </pc:docMkLst>
      <pc:sldChg chg="modSp mod">
        <pc:chgData name="bhuvanesh222000@outlook.com" userId="ce876f4a2fea5c80" providerId="LiveId" clId="{087EB8BB-F6BE-4714-B2E9-FEAE84C1741C}" dt="2026-06-06T09:55:26.111" v="73" actId="207"/>
        <pc:sldMkLst>
          <pc:docMk/>
          <pc:sldMk cId="0" sldId="256"/>
        </pc:sldMkLst>
        <pc:spChg chg="mod">
          <ac:chgData name="bhuvanesh222000@outlook.com" userId="ce876f4a2fea5c80" providerId="LiveId" clId="{087EB8BB-F6BE-4714-B2E9-FEAE84C1741C}" dt="2026-06-06T09:55:01.262" v="64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5:08.760" v="67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5:17.318" v="70" actId="20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5:26.111" v="73" actId="20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bhuvanesh222000@outlook.com" userId="ce876f4a2fea5c80" providerId="LiveId" clId="{087EB8BB-F6BE-4714-B2E9-FEAE84C1741C}" dt="2026-06-06T09:54:35.713" v="60" actId="14100"/>
        <pc:sldMkLst>
          <pc:docMk/>
          <pc:sldMk cId="0" sldId="257"/>
        </pc:sldMkLst>
        <pc:spChg chg="mod">
          <ac:chgData name="bhuvanesh222000@outlook.com" userId="ce876f4a2fea5c80" providerId="LiveId" clId="{087EB8BB-F6BE-4714-B2E9-FEAE84C1741C}" dt="2026-06-06T09:53:51.088" v="41" actId="11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04.541" v="47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3:56.497" v="43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07.935" v="49" actId="20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3:59.408" v="45" actId="113"/>
          <ac:spMkLst>
            <pc:docMk/>
            <pc:sldMk cId="0" sldId="257"/>
            <ac:spMk id="26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35.713" v="60" actId="1410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12.512" v="52" actId="113"/>
          <ac:spMkLst>
            <pc:docMk/>
            <pc:sldMk cId="0" sldId="257"/>
            <ac:spMk id="3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21.939" v="54" actId="207"/>
          <ac:spMkLst>
            <pc:docMk/>
            <pc:sldMk cId="0" sldId="257"/>
            <ac:spMk id="34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4:31.254" v="59" actId="207"/>
          <ac:spMkLst>
            <pc:docMk/>
            <pc:sldMk cId="0" sldId="257"/>
            <ac:spMk id="38" creationId="{00000000-0000-0000-0000-000000000000}"/>
          </ac:spMkLst>
        </pc:spChg>
      </pc:sldChg>
      <pc:sldChg chg="modSp mod">
        <pc:chgData name="bhuvanesh222000@outlook.com" userId="ce876f4a2fea5c80" providerId="LiveId" clId="{087EB8BB-F6BE-4714-B2E9-FEAE84C1741C}" dt="2026-06-06T09:56:25.679" v="74" actId="20577"/>
        <pc:sldMkLst>
          <pc:docMk/>
          <pc:sldMk cId="0" sldId="258"/>
        </pc:sldMkLst>
        <pc:spChg chg="mod">
          <ac:chgData name="bhuvanesh222000@outlook.com" userId="ce876f4a2fea5c80" providerId="LiveId" clId="{087EB8BB-F6BE-4714-B2E9-FEAE84C1741C}" dt="2026-06-06T09:56:25.679" v="74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bhuvanesh222000@outlook.com" userId="ce876f4a2fea5c80" providerId="LiveId" clId="{087EB8BB-F6BE-4714-B2E9-FEAE84C1741C}" dt="2026-06-06T09:58:15.217" v="77" actId="14100"/>
        <pc:sldMkLst>
          <pc:docMk/>
          <pc:sldMk cId="0" sldId="260"/>
        </pc:sldMkLst>
        <pc:spChg chg="mod">
          <ac:chgData name="bhuvanesh222000@outlook.com" userId="ce876f4a2fea5c80" providerId="LiveId" clId="{087EB8BB-F6BE-4714-B2E9-FEAE84C1741C}" dt="2026-06-06T09:58:15.217" v="77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09:58:08.216" v="76" actId="6549"/>
          <ac:spMkLst>
            <pc:docMk/>
            <pc:sldMk cId="0" sldId="260"/>
            <ac:spMk id="24" creationId="{00000000-0000-0000-0000-000000000000}"/>
          </ac:spMkLst>
        </pc:spChg>
      </pc:sldChg>
      <pc:sldChg chg="modSp">
        <pc:chgData name="bhuvanesh222000@outlook.com" userId="ce876f4a2fea5c80" providerId="LiveId" clId="{087EB8BB-F6BE-4714-B2E9-FEAE84C1741C}" dt="2026-06-06T09:59:03.960" v="79" actId="113"/>
        <pc:sldMkLst>
          <pc:docMk/>
          <pc:sldMk cId="0" sldId="261"/>
        </pc:sldMkLst>
        <pc:graphicFrameChg chg="mod">
          <ac:chgData name="bhuvanesh222000@outlook.com" userId="ce876f4a2fea5c80" providerId="LiveId" clId="{087EB8BB-F6BE-4714-B2E9-FEAE84C1741C}" dt="2026-06-06T09:59:03.960" v="79" actId="113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bhuvanesh222000@outlook.com" userId="ce876f4a2fea5c80" providerId="LiveId" clId="{087EB8BB-F6BE-4714-B2E9-FEAE84C1741C}" dt="2026-06-06T10:00:57.598" v="85" actId="14100"/>
        <pc:sldMkLst>
          <pc:docMk/>
          <pc:sldMk cId="0" sldId="262"/>
        </pc:sldMkLst>
        <pc:spChg chg="mod">
          <ac:chgData name="bhuvanesh222000@outlook.com" userId="ce876f4a2fea5c80" providerId="LiveId" clId="{087EB8BB-F6BE-4714-B2E9-FEAE84C1741C}" dt="2026-06-06T10:00:57.598" v="85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0:11.869" v="82" actId="11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0:18.935" v="83" actId="11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0:53.851" v="84" actId="20577"/>
          <ac:spMkLst>
            <pc:docMk/>
            <pc:sldMk cId="0" sldId="262"/>
            <ac:spMk id="25" creationId="{00000000-0000-0000-0000-000000000000}"/>
          </ac:spMkLst>
        </pc:spChg>
        <pc:graphicFrameChg chg="mod">
          <ac:chgData name="bhuvanesh222000@outlook.com" userId="ce876f4a2fea5c80" providerId="LiveId" clId="{087EB8BB-F6BE-4714-B2E9-FEAE84C1741C}" dt="2026-06-06T09:58:58.530" v="78" actId="113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bhuvanesh222000@outlook.com" userId="ce876f4a2fea5c80" providerId="LiveId" clId="{087EB8BB-F6BE-4714-B2E9-FEAE84C1741C}" dt="2026-06-06T10:02:02.549" v="90" actId="113"/>
        <pc:sldMkLst>
          <pc:docMk/>
          <pc:sldMk cId="0" sldId="263"/>
        </pc:sldMkLst>
        <pc:spChg chg="mod">
          <ac:chgData name="bhuvanesh222000@outlook.com" userId="ce876f4a2fea5c80" providerId="LiveId" clId="{087EB8BB-F6BE-4714-B2E9-FEAE84C1741C}" dt="2026-06-06T10:01:55.629" v="88" actId="11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2:02.549" v="90" actId="113"/>
          <ac:spMkLst>
            <pc:docMk/>
            <pc:sldMk cId="0" sldId="263"/>
            <ac:spMk id="24" creationId="{00000000-0000-0000-0000-000000000000}"/>
          </ac:spMkLst>
        </pc:spChg>
        <pc:graphicFrameChg chg="mod">
          <ac:chgData name="bhuvanesh222000@outlook.com" userId="ce876f4a2fea5c80" providerId="LiveId" clId="{087EB8BB-F6BE-4714-B2E9-FEAE84C1741C}" dt="2026-06-06T10:01:32.642" v="86" actId="113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modSp mod">
        <pc:chgData name="bhuvanesh222000@outlook.com" userId="ce876f4a2fea5c80" providerId="LiveId" clId="{087EB8BB-F6BE-4714-B2E9-FEAE84C1741C}" dt="2026-06-06T10:04:30.941" v="98" actId="113"/>
        <pc:sldMkLst>
          <pc:docMk/>
          <pc:sldMk cId="0" sldId="264"/>
        </pc:sldMkLst>
        <pc:spChg chg="mod">
          <ac:chgData name="bhuvanesh222000@outlook.com" userId="ce876f4a2fea5c80" providerId="LiveId" clId="{087EB8BB-F6BE-4714-B2E9-FEAE84C1741C}" dt="2026-06-06T10:04:20.134" v="97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3:09.117" v="93" actId="11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3:28.285" v="94" actId="11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4:30.941" v="98" actId="11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04:15.580" v="96" actId="20577"/>
          <ac:spMkLst>
            <pc:docMk/>
            <pc:sldMk cId="0" sldId="264"/>
            <ac:spMk id="17" creationId="{00000000-0000-0000-0000-000000000000}"/>
          </ac:spMkLst>
        </pc:spChg>
        <pc:graphicFrameChg chg="modGraphic">
          <ac:chgData name="bhuvanesh222000@outlook.com" userId="ce876f4a2fea5c80" providerId="LiveId" clId="{087EB8BB-F6BE-4714-B2E9-FEAE84C1741C}" dt="2026-06-06T10:02:54.233" v="92" actId="20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bhuvanesh222000@outlook.com" userId="ce876f4a2fea5c80" providerId="LiveId" clId="{087EB8BB-F6BE-4714-B2E9-FEAE84C1741C}" dt="2026-06-06T10:09:23.294" v="138" actId="207"/>
        <pc:sldMkLst>
          <pc:docMk/>
          <pc:sldMk cId="0" sldId="265"/>
        </pc:sldMkLst>
        <pc:spChg chg="mod">
          <ac:chgData name="bhuvanesh222000@outlook.com" userId="ce876f4a2fea5c80" providerId="LiveId" clId="{087EB8BB-F6BE-4714-B2E9-FEAE84C1741C}" dt="2026-06-06T10:09:23.294" v="138" actId="207"/>
          <ac:spMkLst>
            <pc:docMk/>
            <pc:sldMk cId="0" sldId="265"/>
            <ac:spMk id="19" creationId="{6E366576-5767-CDF2-1FDA-CC244355A77A}"/>
          </ac:spMkLst>
        </pc:spChg>
        <pc:spChg chg="mod">
          <ac:chgData name="bhuvanesh222000@outlook.com" userId="ce876f4a2fea5c80" providerId="LiveId" clId="{087EB8BB-F6BE-4714-B2E9-FEAE84C1741C}" dt="2026-06-06T10:09:02.934" v="137" actId="207"/>
          <ac:spMkLst>
            <pc:docMk/>
            <pc:sldMk cId="0" sldId="265"/>
            <ac:spMk id="20" creationId="{A094A3AF-EC98-797C-4B23-E3DC85DA5A6A}"/>
          </ac:spMkLst>
        </pc:spChg>
        <pc:graphicFrameChg chg="mod">
          <ac:chgData name="bhuvanesh222000@outlook.com" userId="ce876f4a2fea5c80" providerId="LiveId" clId="{087EB8BB-F6BE-4714-B2E9-FEAE84C1741C}" dt="2026-06-06T10:08:55.747" v="135" actId="255"/>
          <ac:graphicFrameMkLst>
            <pc:docMk/>
            <pc:sldMk cId="0" sldId="265"/>
            <ac:graphicFrameMk id="7" creationId="{00000000-0000-0000-0000-000000000000}"/>
          </ac:graphicFrameMkLst>
        </pc:graphicFrameChg>
      </pc:sldChg>
      <pc:sldChg chg="addSp modSp mod">
        <pc:chgData name="bhuvanesh222000@outlook.com" userId="ce876f4a2fea5c80" providerId="LiveId" clId="{087EB8BB-F6BE-4714-B2E9-FEAE84C1741C}" dt="2026-06-08T07:24:00.713" v="287" actId="14100"/>
        <pc:sldMkLst>
          <pc:docMk/>
          <pc:sldMk cId="0" sldId="266"/>
        </pc:sldMkLst>
        <pc:spChg chg="mod">
          <ac:chgData name="bhuvanesh222000@outlook.com" userId="ce876f4a2fea5c80" providerId="LiveId" clId="{087EB8BB-F6BE-4714-B2E9-FEAE84C1741C}" dt="2026-06-08T07:24:00.713" v="287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1:06.088" v="157" actId="25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1:00.091" v="156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0:45.048" v="155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8:24.144" v="262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6:25.373" v="247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bhuvanesh222000@outlook.com" userId="ce876f4a2fea5c80" providerId="LiveId" clId="{087EB8BB-F6BE-4714-B2E9-FEAE84C1741C}" dt="2026-06-06T10:18:28.377" v="264" actId="14100"/>
          <ac:spMkLst>
            <pc:docMk/>
            <pc:sldMk cId="0" sldId="266"/>
            <ac:spMk id="24" creationId="{00000000-0000-0000-0000-000000000000}"/>
          </ac:spMkLst>
        </pc:spChg>
        <pc:spChg chg="add mod">
          <ac:chgData name="bhuvanesh222000@outlook.com" userId="ce876f4a2fea5c80" providerId="LiveId" clId="{087EB8BB-F6BE-4714-B2E9-FEAE84C1741C}" dt="2026-06-06T10:18:32.273" v="265" actId="14100"/>
          <ac:spMkLst>
            <pc:docMk/>
            <pc:sldMk cId="0" sldId="266"/>
            <ac:spMk id="28" creationId="{D6D664BF-056A-E964-1706-304978A46EBC}"/>
          </ac:spMkLst>
        </pc:spChg>
        <pc:graphicFrameChg chg="mod">
          <ac:chgData name="bhuvanesh222000@outlook.com" userId="ce876f4a2fea5c80" providerId="LiveId" clId="{087EB8BB-F6BE-4714-B2E9-FEAE84C1741C}" dt="2026-06-06T10:13:03.590" v="204"/>
          <ac:graphicFrameMkLst>
            <pc:docMk/>
            <pc:sldMk cId="0" sldId="266"/>
            <ac:graphicFrameMk id="7" creationId="{00000000-0000-0000-0000-000000000000}"/>
          </ac:graphicFrameMkLst>
        </pc:graphicFrameChg>
      </pc:sldChg>
      <pc:sldChg chg="modSp mod">
        <pc:chgData name="bhuvanesh222000@outlook.com" userId="ce876f4a2fea5c80" providerId="LiveId" clId="{087EB8BB-F6BE-4714-B2E9-FEAE84C1741C}" dt="2026-06-06T10:21:35.091" v="286" actId="20577"/>
        <pc:sldMkLst>
          <pc:docMk/>
          <pc:sldMk cId="0" sldId="270"/>
        </pc:sldMkLst>
        <pc:spChg chg="mod">
          <ac:chgData name="bhuvanesh222000@outlook.com" userId="ce876f4a2fea5c80" providerId="LiveId" clId="{087EB8BB-F6BE-4714-B2E9-FEAE84C1741C}" dt="2026-06-06T10:21:35.091" v="286" actId="20577"/>
          <ac:spMkLst>
            <pc:docMk/>
            <pc:sldMk cId="0" sldId="270"/>
            <ac:spMk id="2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47-45C4-9166-D425FFBF14CD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47-45C4-9166-D425FFBF14C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4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59.48k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887286324786323"/>
                      <c:h val="6.770833333333332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B447-45C4-9166-D425FFBF14C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4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39.98k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447-45C4-9166-D425FFBF14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59.81</c:v>
                </c:pt>
                <c:pt idx="1">
                  <c:v>40.19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47-45C4-9166-D425FFBF14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6A-46E2-8236-C05F7EBA144C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6A-46E2-8236-C05F7EBA144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4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59.81%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6A-46E2-8236-C05F7EBA14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4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40.19%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6A-46E2-8236-C05F7EBA144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179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6A-46E2-8236-C05F7EBA14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3E-4F5E-B039-ACC207B75252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3E-4F5E-B039-ACC207B7525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3E-4F5E-B039-ACC207B7525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3E-4F5E-B039-ACC207B752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40.93</c:v>
                </c:pt>
                <c:pt idx="1">
                  <c:v>27.62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3E-4F5E-B039-ACC207B75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Shoppers (K)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5A-4DE8-ACA2-B4399517706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5A-4DE8-ACA2-B43995177069}"/>
              </c:ext>
            </c:extLst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5A-4DE8-ACA2-B4399517706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55 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75A-4DE8-ACA2-B4399517706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29 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75A-4DE8-ACA2-B4399517706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15</a:t>
                    </a:r>
                    <a:r>
                      <a:rPr lang="en-US" baseline="0"/>
                      <a:t> 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75A-4DE8-ACA2-B4399517706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40 and Above</c:v>
                </c:pt>
                <c:pt idx="1">
                  <c:v>26 to 40</c:v>
                </c:pt>
                <c:pt idx="2">
                  <c:v>18 to 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29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5A-4DE8-ACA2-B439951770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(K)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82-4E79-90E0-7DB6F9A09E0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82-4E79-90E0-7DB6F9A09E01}"/>
              </c:ext>
            </c:extLst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82-4E79-90E0-7DB6F9A09E0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166 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82-4E79-90E0-7DB6F9A09E0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87 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682-4E79-90E0-7DB6F9A09E0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46</a:t>
                    </a:r>
                    <a:r>
                      <a:rPr lang="en-US" baseline="0" dirty="0"/>
                      <a:t> 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682-4E79-90E0-7DB6F9A09E0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40 and Above</c:v>
                </c:pt>
                <c:pt idx="1">
                  <c:v>26 to 40</c:v>
                </c:pt>
                <c:pt idx="2">
                  <c:v>18 to 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</c:v>
                </c:pt>
                <c:pt idx="1">
                  <c:v>87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82-4E79-90E0-7DB6F9A09E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8D-47ED-A1E0-C6A3E5B93433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D-47ED-A1E0-C6A3E5B93433}"/>
              </c:ext>
            </c:extLst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D-47ED-A1E0-C6A3E5B9343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38.11</a:t>
                    </a:r>
                    <a:r>
                      <a:rPr lang="en-US" baseline="0"/>
                      <a:t> 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18D-47ED-A1E0-C6A3E5B934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19.99 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18D-47ED-A1E0-C6A3E5B934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10.44 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18D-47ED-A1E0-C6A3E5B9343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40 and Above</c:v>
                </c:pt>
                <c:pt idx="1">
                  <c:v>26 to 40</c:v>
                </c:pt>
                <c:pt idx="2">
                  <c:v>18 to 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38.11</c:v>
                </c:pt>
                <c:pt idx="1">
                  <c:v>19.989999999999998</c:v>
                </c:pt>
                <c:pt idx="2">
                  <c:v>10.44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8D-47ED-A1E0-C6A3E5B934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40.09%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0E1-4AEC-9D86-C257C56051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40.04%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0E1-4AEC-9D86-C257C56051E4}"/>
                </c:ext>
              </c:extLst>
            </c:dLbl>
            <c:dLbl>
              <c:idx val="2"/>
              <c:tx>
                <c:rich>
                  <a:bodyPr anchorCtr="0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r>
                      <a:rPr lang="en-US" sz="1200" b="1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40.46%</a:t>
                    </a:r>
                    <a:endParaRPr lang="en-US" sz="1200" b="1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endParaRPr lang="en-US" sz="1200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011294694720509E-2"/>
                      <c:h val="6.43191597064034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20E1-4AEC-9D86-C257C56051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39.44%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0E1-4AEC-9D86-C257C56051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40.74%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0E1-4AEC-9D86-C257C56051E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40.24%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0E1-4AEC-9D86-C257C56051E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41.42%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0E1-4AEC-9D86-C257C56051E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39.64%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0E1-4AEC-9D86-C257C56051E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Cosmetics</c:v>
                </c:pt>
                <c:pt idx="2">
                  <c:v>Food &amp; Bev</c:v>
                </c:pt>
                <c:pt idx="3">
                  <c:v>Toys</c:v>
                </c:pt>
                <c:pt idx="4">
                  <c:v>Shoes</c:v>
                </c:pt>
                <c:pt idx="5">
                  <c:v>Technology</c:v>
                </c:pt>
                <c:pt idx="6">
                  <c:v>Books</c:v>
                </c:pt>
                <c:pt idx="7">
                  <c:v>Souvenir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40.090000000000003</c:v>
                </c:pt>
                <c:pt idx="1">
                  <c:v>40.04</c:v>
                </c:pt>
                <c:pt idx="2">
                  <c:v>40.46</c:v>
                </c:pt>
                <c:pt idx="3">
                  <c:v>39.44</c:v>
                </c:pt>
                <c:pt idx="4">
                  <c:v>40.74</c:v>
                </c:pt>
                <c:pt idx="5">
                  <c:v>40.24</c:v>
                </c:pt>
                <c:pt idx="6">
                  <c:v>41.42</c:v>
                </c:pt>
                <c:pt idx="7">
                  <c:v>39.64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E-4F6F-8AAB-232BB2B5F8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E64CDB"/>
            </a:solidFill>
            <a:ln>
              <a:solidFill>
                <a:srgbClr val="00B0F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6.8306010928961746E-3"/>
                  <c:y val="1.5818780055682106E-2"/>
                </c:manualLayout>
              </c:layout>
              <c:tx>
                <c:rich>
                  <a:bodyPr anchorCtr="0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r>
                      <a:rPr lang="en-US" sz="1200" b="1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59.91%</a:t>
                    </a:r>
                    <a:endParaRPr lang="en-US" sz="1200" b="1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endParaRPr lang="en-US" sz="1200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0E1-4AEC-9D86-C257C56051E4}"/>
                </c:ext>
              </c:extLst>
            </c:dLbl>
            <c:dLbl>
              <c:idx val="1"/>
              <c:layout>
                <c:manualLayout>
                  <c:x val="1.7076592372674733E-2"/>
                  <c:y val="1.2455732315708441E-7"/>
                </c:manualLayout>
              </c:layout>
              <c:tx>
                <c:rich>
                  <a:bodyPr anchorCtr="0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r>
                      <a:rPr lang="en-US" sz="1200" b="1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59.96%</a:t>
                    </a:r>
                    <a:endParaRPr lang="en-US" sz="1200" b="1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endParaRPr lang="en-US" sz="1200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503097973409043E-2"/>
                      <c:h val="6.748291571753985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20E1-4AEC-9D86-C257C56051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59.54%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0E1-4AEC-9D86-C257C56051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60.56%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0E1-4AEC-9D86-C257C56051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59.26%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0E1-4AEC-9D86-C257C56051E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59.76%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20E1-4AEC-9D86-C257C56051E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58.58%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0E1-4AEC-9D86-C257C56051E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60.36%</a:t>
                    </a:r>
                    <a:endParaRPr lang="en-US" sz="12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0E1-4AEC-9D86-C257C56051E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Cosmetics</c:v>
                </c:pt>
                <c:pt idx="2">
                  <c:v>Food &amp; Bev</c:v>
                </c:pt>
                <c:pt idx="3">
                  <c:v>Toys</c:v>
                </c:pt>
                <c:pt idx="4">
                  <c:v>Shoes</c:v>
                </c:pt>
                <c:pt idx="5">
                  <c:v>Technology</c:v>
                </c:pt>
                <c:pt idx="6">
                  <c:v>Books</c:v>
                </c:pt>
                <c:pt idx="7">
                  <c:v>Souvenir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59.91</c:v>
                </c:pt>
                <c:pt idx="1">
                  <c:v>59.96</c:v>
                </c:pt>
                <c:pt idx="2">
                  <c:v>59.54</c:v>
                </c:pt>
                <c:pt idx="3">
                  <c:v>60.56</c:v>
                </c:pt>
                <c:pt idx="4">
                  <c:v>59.26</c:v>
                </c:pt>
                <c:pt idx="5">
                  <c:v>59.76</c:v>
                </c:pt>
                <c:pt idx="6">
                  <c:v>58.58</c:v>
                </c:pt>
                <c:pt idx="7">
                  <c:v>60.36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CE-4F6F-8AAB-232BB2B5F8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13-4C5C-A737-2551D914E0E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13-4C5C-A737-2551D914E0E4}"/>
              </c:ext>
            </c:extLst>
          </c:dPt>
          <c:dPt>
            <c:idx val="2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13-4C5C-A737-2551D914E0E4}"/>
              </c:ext>
            </c:extLst>
          </c:dPt>
          <c:dLbls>
            <c:dLbl>
              <c:idx val="0"/>
              <c:layout>
                <c:manualLayout>
                  <c:x val="-0.55294055791103036"/>
                  <c:y val="0.22856517935258092"/>
                </c:manualLayout>
              </c:layout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chemeClr val="bg1"/>
                        </a:solidFill>
                        <a:latin typeface="Arial"/>
                      </a:defRPr>
                    </a:pPr>
                    <a:r>
                      <a:rPr lang="en-US" b="1" dirty="0">
                        <a:solidFill>
                          <a:schemeClr val="bg1"/>
                        </a:solidFill>
                      </a:rPr>
                      <a:t>Credit</a:t>
                    </a:r>
                    <a:r>
                      <a:rPr lang="en-US" b="1" baseline="0" dirty="0">
                        <a:solidFill>
                          <a:schemeClr val="bg1"/>
                        </a:solidFill>
                      </a:rPr>
                      <a:t> Card</a:t>
                    </a:r>
                    <a:endParaRPr lang="en-US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213-4C5C-A737-2551D914E0E4}"/>
                </c:ext>
              </c:extLst>
            </c:dLbl>
            <c:dLbl>
              <c:idx val="1"/>
              <c:layout>
                <c:manualLayout>
                  <c:x val="0.48298958123023084"/>
                  <c:y val="-0.37596725148335575"/>
                </c:manualLayout>
              </c:layout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chemeClr val="bg1"/>
                        </a:solidFill>
                        <a:latin typeface="Arial"/>
                      </a:defRPr>
                    </a:pPr>
                    <a:r>
                      <a:rPr lang="en-US" sz="1100" b="1" i="0" u="none" strike="noStrike" kern="1200" baseline="0" dirty="0">
                        <a:solidFill>
                          <a:schemeClr val="bg1"/>
                        </a:solidFill>
                        <a:latin typeface="Arial"/>
                      </a:rPr>
                      <a:t>Cash</a:t>
                    </a:r>
                    <a:endParaRPr lang="en-US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213-4C5C-A737-2551D914E0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300" b="1" i="0" u="none" strike="noStrike">
                        <a:solidFill>
                          <a:schemeClr val="bg1"/>
                        </a:solidFill>
                        <a:latin typeface="Arial"/>
                      </a:defRPr>
                    </a:pPr>
                    <a:r>
                      <a:rPr lang="en-US" b="1" dirty="0">
                        <a:solidFill>
                          <a:schemeClr val="bg1"/>
                        </a:solidFill>
                      </a:rPr>
                      <a:t>Debit</a:t>
                    </a:r>
                    <a:r>
                      <a:rPr lang="en-US" b="1" baseline="0" dirty="0">
                        <a:solidFill>
                          <a:schemeClr val="bg1"/>
                        </a:solidFill>
                      </a:rPr>
                      <a:t> Card</a:t>
                    </a:r>
                    <a:endParaRPr lang="en-US" b="1" dirty="0">
                      <a:solidFill>
                        <a:schemeClr val="bg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213-4C5C-A737-2551D914E0E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Credit Card</c:v>
                </c:pt>
                <c:pt idx="1">
                  <c:v>Cash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44.45</c:v>
                </c:pt>
                <c:pt idx="1">
                  <c:v>34.93</c:v>
                </c:pt>
                <c:pt idx="2">
                  <c:v>20.079999999999998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13-4C5C-A737-2551D914E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18.4M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677-41A7-894A-28ACCA36C9F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14.4M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677-41A7-894A-28ACCA36C9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8.13M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677-41A7-894A-28ACCA36C9F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18.399999999999999</c:v>
                </c:pt>
                <c:pt idx="1">
                  <c:v>14.4</c:v>
                </c:pt>
                <c:pt idx="2">
                  <c:v>8.1300000000000008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E-479F-B68D-AFB970F9A0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12.3M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677-41A7-894A-28ACCA36C9F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9.65M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677-41A7-894A-28ACCA36C9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5.67M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677-41A7-894A-28ACCA36C9F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12.3</c:v>
                </c:pt>
                <c:pt idx="1">
                  <c:v>9.65</c:v>
                </c:pt>
                <c:pt idx="2">
                  <c:v>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2E-479F-B68D-AFB970F9A0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0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9260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933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Narrative &amp; Analytical Report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Behaviour · Revenue · Demographics · Age · Payment Methods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965960" cy="960120"/>
          </a:xfrm>
          <a:prstGeom prst="rect">
            <a:avLst/>
          </a:prstGeom>
          <a:solidFill>
            <a:srgbClr val="0B7285">
              <a:alpha val="75000"/>
            </a:srgbClr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99,457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97480" y="3017520"/>
            <a:ext cx="1965960" cy="9601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3017520"/>
            <a:ext cx="1965960" cy="960120"/>
          </a:xfrm>
          <a:prstGeom prst="rect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95160" y="3017520"/>
            <a:ext cx="1965960" cy="96012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D42"/>
          </a:solidFill>
          <a:ln w="12700">
            <a:solidFill>
              <a:srgbClr val="0F1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Analytics Division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retail dataset captures transaction-level shopping data across 8 product categories, 3 age groups, 2 genders and 3 payment methods. It enables multi-dimensional analysis of revenue, volume and customer behaviour.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9" y="1719072"/>
            <a:ext cx="40015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/>
              <a:t>99,457</a:t>
            </a:r>
            <a:r>
              <a:rPr lang="en-US" sz="1000" b="1" dirty="0"/>
              <a:t> </a:t>
            </a: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total — Female 59.81% (59.48K) · Male 40.19% (39.98K)</a:t>
            </a:r>
            <a:endParaRPr lang="en-US" sz="950" b="1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68.55M — Female 59.71% (40.93M) · Male 40.29% (27.62M)</a:t>
            </a:r>
            <a:endParaRPr lang="en-US" sz="950" b="1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Products Sold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299K units — Female 179K · Male 120K across all categories</a:t>
            </a:r>
            <a:endParaRPr lang="en-US" sz="950" b="1" dirty="0"/>
          </a:p>
        </p:txBody>
      </p:sp>
      <p:sp>
        <p:nvSpPr>
          <p:cNvPr id="19" name="Shape 17"/>
          <p:cNvSpPr/>
          <p:nvPr/>
        </p:nvSpPr>
        <p:spPr>
          <a:xfrm>
            <a:off x="4754880" y="221284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12848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8 Categories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Clothing · Cosmetics · Food &amp; Bev · Shoes · Toys · Books · Tech · Souvenir</a:t>
            </a:r>
            <a:endParaRPr lang="en-US" sz="950" b="1" dirty="0"/>
          </a:p>
        </p:txBody>
      </p:sp>
      <p:sp>
        <p:nvSpPr>
          <p:cNvPr id="23" name="Shape 21"/>
          <p:cNvSpPr/>
          <p:nvPr/>
        </p:nvSpPr>
        <p:spPr>
          <a:xfrm>
            <a:off x="320040" y="305409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54096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Age Groups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40+ (55K) · 26–40 (29K) · 18–25 (15K) shoppers</a:t>
            </a:r>
            <a:endParaRPr lang="en-US" sz="950" b="1" dirty="0"/>
          </a:p>
        </p:txBody>
      </p:sp>
      <p:sp>
        <p:nvSpPr>
          <p:cNvPr id="27" name="Shape 25"/>
          <p:cNvSpPr/>
          <p:nvPr/>
        </p:nvSpPr>
        <p:spPr>
          <a:xfrm>
            <a:off x="4663440" y="3054096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54096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Methods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· 35.12% -Cash 44.69% · Debit Card 20.19%</a:t>
            </a:r>
            <a:endParaRPr lang="en-US" sz="950" b="1" dirty="0"/>
          </a:p>
        </p:txBody>
      </p:sp>
      <p:sp>
        <p:nvSpPr>
          <p:cNvPr id="31" name="Shape 29"/>
          <p:cNvSpPr/>
          <p:nvPr/>
        </p:nvSpPr>
        <p:spPr>
          <a:xfrm>
            <a:off x="320040" y="38953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89534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Invoice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records with Invoice_no, Invoice_date for time-series</a:t>
            </a:r>
            <a:endParaRPr lang="en-US" sz="950" b="1" dirty="0"/>
          </a:p>
        </p:txBody>
      </p:sp>
      <p:sp>
        <p:nvSpPr>
          <p:cNvPr id="35" name="Shape 33"/>
          <p:cNvSpPr/>
          <p:nvPr/>
        </p:nvSpPr>
        <p:spPr>
          <a:xfrm>
            <a:off x="4754880" y="38953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9534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 Shopping Mall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Multi-mall retail data enabling location and cross-store comparison</a:t>
            </a:r>
            <a:endParaRPr lang="en-US" sz="950" b="1" dirty="0"/>
          </a:p>
        </p:txBody>
      </p:sp>
      <p:sp>
        <p:nvSpPr>
          <p:cNvPr id="39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Dataset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Distribution by Gender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58181528"/>
              </p:ext>
            </p:extLst>
          </p:nvPr>
        </p:nvGraphicFramePr>
        <p:xfrm>
          <a:off x="457200" y="772668"/>
          <a:ext cx="4754880" cy="3890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772668"/>
            <a:ext cx="329184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10607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59.81%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1463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16459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59,480 customers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0" y="1746504"/>
            <a:ext cx="32918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2020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0" y="2423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Shoppers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2606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39,980 customers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0" y="2706624"/>
            <a:ext cx="3291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5623560" y="2990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23560" y="3273552"/>
            <a:ext cx="30175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are the dominant customer base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2356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near 60/40 split is consistent across almost all product categories.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23560" y="40782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should prioritise female-targeted campaigns while retaining male engagement.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1 — Shopping Distribution by Gender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Products Sold by Gender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104963290"/>
              </p:ext>
            </p:extLst>
          </p:nvPr>
        </p:nvGraphicFramePr>
        <p:xfrm>
          <a:off x="457200" y="751743"/>
          <a:ext cx="4754880" cy="3911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751743"/>
            <a:ext cx="3291840" cy="74242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707078"/>
            <a:ext cx="3291840" cy="434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1060705"/>
            <a:ext cx="329184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Units Sold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16459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59.86% of total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0" y="1580153"/>
            <a:ext cx="32918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550962"/>
            <a:ext cx="3291840" cy="38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0" y="1932198"/>
            <a:ext cx="3291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Units Sold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2606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40.14% of total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0" y="2514600"/>
            <a:ext cx="3291840" cy="832103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0" y="2493498"/>
            <a:ext cx="3291840" cy="399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486400" y="2692205"/>
            <a:ext cx="3291840" cy="64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35661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0" y="34061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0" y="3683977"/>
            <a:ext cx="30175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0" y="3775417"/>
            <a:ext cx="3154680" cy="30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account for 179K of 299K total units — almost 3 in 5 items sold.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86400" y="4151376"/>
            <a:ext cx="3017520" cy="400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split mirrors customer count ratio, confirming consistent purchase frequency across genders.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2 — Products Sold by Gender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by Gender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89731411"/>
              </p:ext>
            </p:extLst>
          </p:nvPr>
        </p:nvGraphicFramePr>
        <p:xfrm>
          <a:off x="457200" y="661178"/>
          <a:ext cx="4754880" cy="4002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661178"/>
            <a:ext cx="329184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647462"/>
            <a:ext cx="3291840" cy="442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40.93M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102412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1099390"/>
            <a:ext cx="3291840" cy="430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59.71% of 68.55M</a:t>
            </a:r>
            <a:endParaRPr lang="en-US" sz="1000" b="1" dirty="0"/>
          </a:p>
        </p:txBody>
      </p:sp>
      <p:sp>
        <p:nvSpPr>
          <p:cNvPr id="12" name="Shape 9"/>
          <p:cNvSpPr/>
          <p:nvPr/>
        </p:nvSpPr>
        <p:spPr>
          <a:xfrm>
            <a:off x="5486400" y="1621298"/>
            <a:ext cx="329184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636776"/>
            <a:ext cx="3291840" cy="39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27.62M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0" y="2036302"/>
            <a:ext cx="3291840" cy="27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2246614"/>
            <a:ext cx="3291840" cy="270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40.29% of 68.55M</a:t>
            </a:r>
            <a:endParaRPr lang="en-US" sz="1000" b="1" dirty="0"/>
          </a:p>
        </p:txBody>
      </p:sp>
      <p:sp>
        <p:nvSpPr>
          <p:cNvPr id="16" name="Shape 13"/>
          <p:cNvSpPr/>
          <p:nvPr/>
        </p:nvSpPr>
        <p:spPr>
          <a:xfrm>
            <a:off x="5486400" y="2626091"/>
            <a:ext cx="3291840" cy="833151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0" y="2616948"/>
            <a:ext cx="3291840" cy="45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68.55M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486400" y="2893376"/>
            <a:ext cx="3291840" cy="387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3170160"/>
            <a:ext cx="3291840" cy="22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sales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486400" y="3558780"/>
            <a:ext cx="3291840" cy="1104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23560" y="3642122"/>
            <a:ext cx="3017520" cy="29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23560" y="3938254"/>
            <a:ext cx="30175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4037792"/>
            <a:ext cx="3017520" cy="32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generate 40.93M — nearly 13M more than male customers.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23560" y="4261104"/>
            <a:ext cx="301752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3 — Revenue by Gender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Shopping Volume Distribution by 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796424511"/>
              </p:ext>
            </p:extLst>
          </p:nvPr>
        </p:nvGraphicFramePr>
        <p:xfrm>
          <a:off x="457200" y="713232"/>
          <a:ext cx="502920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704088"/>
            <a:ext cx="3108960" cy="86410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5760720" y="713232"/>
            <a:ext cx="3108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11018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Shoppers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632204"/>
            <a:ext cx="31089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604772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760720" y="1869948"/>
            <a:ext cx="31089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26–40 Shoppers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011680"/>
            <a:ext cx="3108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16" name="Shape 13"/>
          <p:cNvSpPr/>
          <p:nvPr/>
        </p:nvSpPr>
        <p:spPr>
          <a:xfrm>
            <a:off x="5760720" y="2446020"/>
            <a:ext cx="3108960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432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760720" y="28026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Shoppers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2980944"/>
            <a:ext cx="3108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20" name="Shape 17"/>
          <p:cNvSpPr/>
          <p:nvPr/>
        </p:nvSpPr>
        <p:spPr>
          <a:xfrm>
            <a:off x="5760720" y="3351276"/>
            <a:ext cx="3108960" cy="1385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97880" y="33787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97880" y="3648456"/>
            <a:ext cx="28346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6347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adults are the largest shopping cohort — more than double the 18–25 segment.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97880" y="3913632"/>
            <a:ext cx="283464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26–40 mid-career group is a strong secondary segment with stable purchasing power.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97880" y="4329684"/>
            <a:ext cx="2834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(18–25) segment, while smallest, represents future loyalty-building opportunity.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4 — Shopping Volume by 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Volume by Age Group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060525442"/>
              </p:ext>
            </p:extLst>
          </p:nvPr>
        </p:nvGraphicFramePr>
        <p:xfrm>
          <a:off x="457200" y="713232"/>
          <a:ext cx="502920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676656"/>
            <a:ext cx="3108960" cy="836676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640080"/>
            <a:ext cx="31089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1024128"/>
            <a:ext cx="3108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— 40+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1161288"/>
            <a:ext cx="31089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 of 299K</a:t>
            </a:r>
            <a:endParaRPr lang="en-US" sz="1000" b="1" dirty="0"/>
          </a:p>
        </p:txBody>
      </p:sp>
      <p:sp>
        <p:nvSpPr>
          <p:cNvPr id="12" name="Shape 9"/>
          <p:cNvSpPr/>
          <p:nvPr/>
        </p:nvSpPr>
        <p:spPr>
          <a:xfrm>
            <a:off x="5760720" y="1577340"/>
            <a:ext cx="3108960" cy="8001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522476"/>
            <a:ext cx="3108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760720" y="1860804"/>
            <a:ext cx="31089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— 26–40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20665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 of 299K</a:t>
            </a:r>
            <a:endParaRPr lang="en-US" sz="1000" b="1" dirty="0"/>
          </a:p>
        </p:txBody>
      </p:sp>
      <p:sp>
        <p:nvSpPr>
          <p:cNvPr id="16" name="Shape 13"/>
          <p:cNvSpPr/>
          <p:nvPr/>
        </p:nvSpPr>
        <p:spPr>
          <a:xfrm>
            <a:off x="5760720" y="2432304"/>
            <a:ext cx="3108960" cy="7406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414016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760720" y="2688336"/>
            <a:ext cx="3108960" cy="364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— 18–25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2944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of 299K</a:t>
            </a:r>
            <a:endParaRPr lang="en-US" sz="1000" b="1" dirty="0"/>
          </a:p>
        </p:txBody>
      </p:sp>
      <p:sp>
        <p:nvSpPr>
          <p:cNvPr id="20" name="Shape 17"/>
          <p:cNvSpPr/>
          <p:nvPr/>
        </p:nvSpPr>
        <p:spPr>
          <a:xfrm>
            <a:off x="5760720" y="3236976"/>
            <a:ext cx="3108960" cy="12298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97880" y="3334395"/>
            <a:ext cx="2834640" cy="24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97880" y="3602736"/>
            <a:ext cx="28346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602735"/>
            <a:ext cx="2834640" cy="431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group purchases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— nearly 4× the youngest segment, reflecting high basket size.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97880" y="3913632"/>
            <a:ext cx="2834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26–40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group's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signals strong mid-life consumption driven by household needs.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97880" y="4198502"/>
            <a:ext cx="2834640" cy="51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5 — Product Sales Volume by 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by Age Group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385437316"/>
              </p:ext>
            </p:extLst>
          </p:nvPr>
        </p:nvGraphicFramePr>
        <p:xfrm>
          <a:off x="457200" y="68580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685800"/>
            <a:ext cx="3108960" cy="88696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658368"/>
            <a:ext cx="31089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38.11M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1024128"/>
            <a:ext cx="3108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40+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130302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 of total</a:t>
            </a:r>
            <a:endParaRPr lang="en-US" sz="1000" b="1" dirty="0"/>
          </a:p>
        </p:txBody>
      </p:sp>
      <p:sp>
        <p:nvSpPr>
          <p:cNvPr id="12" name="Shape 9"/>
          <p:cNvSpPr/>
          <p:nvPr/>
        </p:nvSpPr>
        <p:spPr>
          <a:xfrm>
            <a:off x="5760720" y="1618488"/>
            <a:ext cx="3108960" cy="8732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63677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19.99M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76072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26–40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2286000"/>
            <a:ext cx="3108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 of total</a:t>
            </a:r>
            <a:endParaRPr lang="en-US" sz="1000" b="1" dirty="0"/>
          </a:p>
        </p:txBody>
      </p:sp>
      <p:sp>
        <p:nvSpPr>
          <p:cNvPr id="16" name="Shape 13"/>
          <p:cNvSpPr/>
          <p:nvPr/>
        </p:nvSpPr>
        <p:spPr>
          <a:xfrm>
            <a:off x="5760720" y="2532888"/>
            <a:ext cx="3108960" cy="7955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542032"/>
            <a:ext cx="3108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10.44M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760720" y="28392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18–25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30038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 of total</a:t>
            </a:r>
            <a:endParaRPr lang="en-US" sz="1000" b="1" dirty="0"/>
          </a:p>
        </p:txBody>
      </p:sp>
      <p:sp>
        <p:nvSpPr>
          <p:cNvPr id="20" name="Shape 17"/>
          <p:cNvSpPr/>
          <p:nvPr/>
        </p:nvSpPr>
        <p:spPr>
          <a:xfrm>
            <a:off x="5760720" y="3359716"/>
            <a:ext cx="3108960" cy="1445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97880" y="3456432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97880" y="3772603"/>
            <a:ext cx="28346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721608"/>
            <a:ext cx="2834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 generates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38.11M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than the other two age groups combined.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97880" y="3922775"/>
            <a:ext cx="2834640" cy="8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26–40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nearly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it a key secondary revenue driver.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97880" y="4270248"/>
            <a:ext cx="28346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6 — Revenue by Age Group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Category Distribution Table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4932"/>
              </p:ext>
            </p:extLst>
          </p:nvPr>
        </p:nvGraphicFramePr>
        <p:xfrm>
          <a:off x="320040" y="787791"/>
          <a:ext cx="5342207" cy="4012810"/>
        </p:xfrm>
        <a:graphic>
          <a:graphicData uri="http://schemas.openxmlformats.org/drawingml/2006/table">
            <a:tbl>
              <a:tblPr/>
              <a:tblGrid>
                <a:gridCol w="162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</a:t>
                      </a:r>
                      <a:r>
                        <a:rPr lang="en-US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Bev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Souvenir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2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787792"/>
            <a:ext cx="2926080" cy="370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899630"/>
            <a:ext cx="2651760" cy="3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6080760" y="1279809"/>
            <a:ext cx="26517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dominates with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all sales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making it the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80760" y="1928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&amp;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strong runners-up, together accounting for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23637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 &amp; Toys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significant contribution from female shoppers.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0760" y="27941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Souvenir &amp; Technology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niche but stable demand segments.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80760" y="324436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purchasing share is consistently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each category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80760" y="3664635"/>
            <a:ext cx="2651760" cy="42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Shoes have the highest absolute female unit counts 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62K &amp; 18K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confirming fashion is the top draw.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80760" y="4086664"/>
            <a:ext cx="2651760" cy="49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7 — Category Distribution 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Buying Preferences by Gender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55734352"/>
              </p:ext>
            </p:extLst>
          </p:nvPr>
        </p:nvGraphicFramePr>
        <p:xfrm>
          <a:off x="320040" y="740665"/>
          <a:ext cx="8204982" cy="3461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792011"/>
            <a:ext cx="2468880" cy="400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28117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8 — Buying Preferences by Gender</a:t>
            </a:r>
            <a:endParaRPr lang="en-US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366576-5767-CDF2-1FDA-CC244355A77A}"/>
              </a:ext>
            </a:extLst>
          </p:cNvPr>
          <p:cNvSpPr/>
          <p:nvPr/>
        </p:nvSpPr>
        <p:spPr>
          <a:xfrm>
            <a:off x="1400630" y="4296229"/>
            <a:ext cx="2307770" cy="2697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Male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94A3AF-EC98-797C-4B23-E3DC85DA5A6A}"/>
              </a:ext>
            </a:extLst>
          </p:cNvPr>
          <p:cNvSpPr/>
          <p:nvPr/>
        </p:nvSpPr>
        <p:spPr>
          <a:xfrm>
            <a:off x="4738914" y="4296229"/>
            <a:ext cx="2307770" cy="269748"/>
          </a:xfrm>
          <a:prstGeom prst="rect">
            <a:avLst/>
          </a:prstGeom>
          <a:solidFill>
            <a:srgbClr val="E64CD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Female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by Payment 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8676911"/>
              </p:ext>
            </p:extLst>
          </p:nvPr>
        </p:nvGraphicFramePr>
        <p:xfrm>
          <a:off x="457200" y="722376"/>
          <a:ext cx="4754880" cy="3941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699516"/>
            <a:ext cx="33832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55321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44.45K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9281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0" y="1074420"/>
            <a:ext cx="3291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44.69% of total</a:t>
            </a:r>
            <a:endParaRPr lang="en-US" sz="1000" b="1" dirty="0"/>
          </a:p>
        </p:txBody>
      </p:sp>
      <p:sp>
        <p:nvSpPr>
          <p:cNvPr id="12" name="Shape 9"/>
          <p:cNvSpPr/>
          <p:nvPr/>
        </p:nvSpPr>
        <p:spPr>
          <a:xfrm>
            <a:off x="5394960" y="1696212"/>
            <a:ext cx="3383280" cy="9006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586484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34.93K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0" y="206197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230428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35.12% of total</a:t>
            </a:r>
            <a:endParaRPr lang="en-US" sz="1000" b="1" dirty="0"/>
          </a:p>
        </p:txBody>
      </p:sp>
      <p:sp>
        <p:nvSpPr>
          <p:cNvPr id="16" name="Shape 13"/>
          <p:cNvSpPr/>
          <p:nvPr/>
        </p:nvSpPr>
        <p:spPr>
          <a:xfrm>
            <a:off x="5394960" y="2706624"/>
            <a:ext cx="3383280" cy="7452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0" y="2706624"/>
            <a:ext cx="32918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486400" y="29946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3186684"/>
            <a:ext cx="3291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20.19% of total</a:t>
            </a:r>
            <a:endParaRPr lang="en-US" sz="1000" b="1" dirty="0"/>
          </a:p>
        </p:txBody>
      </p:sp>
      <p:sp>
        <p:nvSpPr>
          <p:cNvPr id="20" name="Shape 17"/>
          <p:cNvSpPr/>
          <p:nvPr/>
        </p:nvSpPr>
        <p:spPr>
          <a:xfrm>
            <a:off x="5394960" y="3421199"/>
            <a:ext cx="3383280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23560" y="3498796"/>
            <a:ext cx="3017520" cy="282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23560" y="3769070"/>
            <a:ext cx="30175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3762756"/>
            <a:ext cx="301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dominant payment method of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44.69%</a:t>
            </a:r>
            <a:endParaRPr lang="en-US" sz="950" b="1" dirty="0"/>
          </a:p>
        </p:txBody>
      </p:sp>
      <p:sp>
        <p:nvSpPr>
          <p:cNvPr id="24" name="Text 21"/>
          <p:cNvSpPr/>
          <p:nvPr/>
        </p:nvSpPr>
        <p:spPr>
          <a:xfrm>
            <a:off x="5623560" y="3973068"/>
            <a:ext cx="3063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significant at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23560" y="4901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at 20% — growth potential through contactless and mobile pay integration.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8016" y="496747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9 — Payment Type Distribution</a:t>
            </a:r>
            <a:endParaRPr lang="en-US" sz="9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D6D664BF-056A-E964-1706-304978A46EBC}"/>
              </a:ext>
            </a:extLst>
          </p:cNvPr>
          <p:cNvSpPr/>
          <p:nvPr/>
        </p:nvSpPr>
        <p:spPr>
          <a:xfrm>
            <a:off x="5623560" y="4095750"/>
            <a:ext cx="3063240" cy="64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IN" sz="900" b="1" dirty="0"/>
              <a:t>Use modern payment options </a:t>
            </a:r>
            <a:r>
              <a:rPr lang="en-IN" sz="900" dirty="0"/>
              <a:t>as an entry point to capture the </a:t>
            </a:r>
            <a:r>
              <a:rPr lang="en-IN" sz="900" b="1" dirty="0"/>
              <a:t>18–35</a:t>
            </a:r>
            <a:r>
              <a:rPr lang="en-IN" sz="900" dirty="0"/>
              <a:t> demographic who reject cash.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by Customer Gender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48024410"/>
              </p:ext>
            </p:extLst>
          </p:nvPr>
        </p:nvGraphicFramePr>
        <p:xfrm>
          <a:off x="365760" y="786384"/>
          <a:ext cx="5303520" cy="3922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731520"/>
            <a:ext cx="2926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069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353312"/>
            <a:ext cx="26517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users 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exceed Male (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females drive more cash-based transactions.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0" y="1947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preferred by both genders, but females lead with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248383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least popular across both genders; females again lead at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8.13M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35040" y="304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payment types, the Female-to-Male ratio is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60:40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mirroring overall customer split.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3601866"/>
            <a:ext cx="2651760" cy="37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introduce gender-neutral digital wallet or cashback rewards to shift debit card usage upward.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 |  Chart 10 — Payment Methods by Gender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" cy="507034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Strategic Findings from Customer Data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8321040" cy="658368"/>
          </a:xfrm>
          <a:prstGeom prst="rect">
            <a:avLst/>
          </a:prstGeom>
          <a:solidFill>
            <a:srgbClr val="122047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26187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👩‍🛍️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Female-Driven Revenue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5087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account for 59.81% of customers, 59.86% of products sold and 59.71% of 68.55M revenue. All female-facing channels and campaigns should receive priority budget allocation.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8321040" cy="658368"/>
          </a:xfrm>
          <a:prstGeom prst="rect">
            <a:avLst/>
          </a:prstGeom>
          <a:solidFill>
            <a:srgbClr val="122047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0116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0116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Age Cohort Is the Gold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2585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40+ segment generates 38.11M in revenue from 55K shoppers — 55.6% of total. Loyalty programmes, premium SKUs and personalised offers are high-ROI investments for this group.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321040" cy="658368"/>
          </a:xfrm>
          <a:prstGeom prst="rect">
            <a:avLst/>
          </a:prstGeom>
          <a:solidFill>
            <a:srgbClr val="122047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276148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5568" y="276148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Anchor Category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0083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104K units sold (35% of total), far ahead of all other categories. Inventory depth, seasonal promotions and cross-category recommendations should revolve around Clothing.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8321040" cy="658368"/>
          </a:xfrm>
          <a:prstGeom prst="rect">
            <a:avLst/>
          </a:prstGeom>
          <a:solidFill>
            <a:srgbClr val="122047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" y="351129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5568" y="351129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Outpace Cash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37581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44.69% now leads. Debit at 20.19% signals scope for growth via contactless or digital wallet promotions. Credit Card at 34.93% warrants continued support for accessibility.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321040" cy="658368"/>
          </a:xfrm>
          <a:prstGeom prst="rect">
            <a:avLst/>
          </a:prstGeom>
          <a:solidFill>
            <a:srgbClr val="122047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" y="426110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42611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Gender Balance Across Categories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45079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consistent ~60:40 Male-to-Female purchase-share across all 8 categories rules out niche bias. Cross-category bundling will be effective regardless of gender targeting.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D42"/>
          </a:solidFill>
          <a:ln w="12700">
            <a:solidFill>
              <a:srgbClr val="0F1D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Report  |  Confidential — Analytics Division  |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1332</Words>
  <Application>Microsoft Office PowerPoint</Application>
  <PresentationFormat>On-screen Show (16:9)</PresentationFormat>
  <Paragraphs>279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</dc:title>
  <dc:subject>PptxGenJS Presentation</dc:subject>
  <dc:creator>Analytics Team</dc:creator>
  <cp:lastModifiedBy>bhuvanesh222000@outlook.com</cp:lastModifiedBy>
  <cp:revision>31</cp:revision>
  <dcterms:created xsi:type="dcterms:W3CDTF">2026-06-06T05:59:59Z</dcterms:created>
  <dcterms:modified xsi:type="dcterms:W3CDTF">2026-06-08T07:24:01Z</dcterms:modified>
</cp:coreProperties>
</file>